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502920"/>
            <a:ext cx="11338560" cy="9601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Visa vs Mastercard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FY2025 comparative analysis based on official filings, with market prices checked on official investor quote pages on April 24,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44805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766E"/>
                </a:solidFill>
              </a:defRPr>
            </a:pPr>
            <a:r>
              <a:t>Question</a:t>
            </a:r>
          </a:p>
          <a:p>
            <a:pPr>
              <a:defRPr sz="2400" b="1">
                <a:solidFill>
                  <a:srgbClr val="111827"/>
                </a:solidFill>
              </a:defRPr>
            </a:pPr>
            <a:r>
              <a:t>Which company performs better financially?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349240"/>
            <a:ext cx="2377440" cy="594360"/>
          </a:xfrm>
          <a:prstGeom prst="roundRect">
            <a:avLst/>
          </a:prstGeom>
          <a:solidFill>
            <a:srgbClr val="DDF3EF"/>
          </a:solidFill>
          <a:ln>
            <a:solidFill>
              <a:srgbClr val="DD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F766E"/>
                </a:solidFill>
              </a:defRPr>
            </a:pPr>
            <a:r>
              <a:t>FY2025 official filings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5349240"/>
            <a:ext cx="2606040" cy="59436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92400E"/>
                </a:solidFill>
              </a:defRPr>
            </a:pPr>
            <a:r>
              <a:t>6 slides / 8-10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65760"/>
            <a:ext cx="11338560" cy="7772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Same Industry, Different Financial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30936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Sources: Visa 2025 Form 10-K, Mastercard 2025 Form 10-K, official IR pages.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560320" cy="91440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Visa</a:t>
            </a:r>
          </a:p>
          <a:p>
            <a:pPr>
              <a:defRPr sz="1400">
                <a:solidFill>
                  <a:srgbClr val="F5F5F5"/>
                </a:solidFill>
              </a:defRPr>
            </a:pPr>
            <a:r>
              <a:t>Scale + cleaner balance sheet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1325880"/>
            <a:ext cx="2834640" cy="914400"/>
          </a:xfrm>
          <a:prstGeom prst="round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Mastercard</a:t>
            </a:r>
          </a:p>
          <a:p>
            <a:pPr>
              <a:defRPr sz="1400">
                <a:solidFill>
                  <a:srgbClr val="F5F5F5"/>
                </a:solidFill>
              </a:defRPr>
            </a:pPr>
            <a:r>
              <a:t>Efficiency + thinner equity 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4754880" cy="658368"/>
          </a:xfrm>
          <a:prstGeom prst="roundRect">
            <a:avLst/>
          </a:prstGeom>
          <a:solidFill>
            <a:srgbClr val="DDF3EF"/>
          </a:solidFill>
          <a:ln>
            <a:solidFill>
              <a:srgbClr val="DD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Same business model: global payment networks, not banks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2560320"/>
            <a:ext cx="4572000" cy="65836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11827"/>
                </a:solidFill>
              </a:defRPr>
            </a:pPr>
            <a:r>
              <a:t>The comparison is really about margins, leverage and asset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737360" cy="658368"/>
          </a:xfrm>
          <a:prstGeom prst="round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111827"/>
                </a:solidFill>
              </a:defRPr>
            </a:pPr>
            <a:r>
              <a:t>Revenue</a:t>
            </a:r>
          </a:p>
          <a:p>
            <a:pPr>
              <a:defRPr sz="1800" b="1">
                <a:solidFill>
                  <a:srgbClr val="111827"/>
                </a:solidFill>
              </a:defRPr>
            </a:pPr>
            <a:r>
              <a:t>$40.0bn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3657600"/>
            <a:ext cx="1737360" cy="658368"/>
          </a:xfrm>
          <a:prstGeom prst="round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111827"/>
                </a:solidFill>
              </a:defRPr>
            </a:pPr>
            <a:r>
              <a:t>Net income</a:t>
            </a:r>
          </a:p>
          <a:p>
            <a:pPr>
              <a:defRPr sz="1800" b="1">
                <a:solidFill>
                  <a:srgbClr val="111827"/>
                </a:solidFill>
              </a:defRPr>
            </a:pPr>
            <a:r>
              <a:t>$20.1bn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3657600"/>
            <a:ext cx="1737360" cy="65836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111827"/>
                </a:solidFill>
              </a:defRPr>
            </a:pPr>
            <a:r>
              <a:t>Revenue</a:t>
            </a:r>
          </a:p>
          <a:p>
            <a:pPr>
              <a:defRPr sz="1800" b="1">
                <a:solidFill>
                  <a:srgbClr val="111827"/>
                </a:solidFill>
              </a:defRPr>
            </a:pPr>
            <a:r>
              <a:t>$32.8bn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3657600"/>
            <a:ext cx="1737360" cy="65836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111827"/>
                </a:solidFill>
              </a:defRPr>
            </a:pPr>
            <a:r>
              <a:t>Net income</a:t>
            </a:r>
          </a:p>
          <a:p>
            <a:pPr>
              <a:defRPr sz="1800" b="1">
                <a:solidFill>
                  <a:srgbClr val="111827"/>
                </a:solidFill>
              </a:defRPr>
            </a:pPr>
            <a:r>
              <a:t>$15.0bn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3429000"/>
            <a:ext cx="1920240" cy="1508760"/>
          </a:xfrm>
          <a:prstGeom prst="roundRect">
            <a:avLst/>
          </a:prstGeom>
          <a:solidFill>
            <a:srgbClr val="DDF3EF"/>
          </a:solidFill>
          <a:ln>
            <a:solidFill>
              <a:srgbClr val="DD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Visual cue</a:t>
            </a:r>
          </a:p>
          <a:p>
            <a:pPr>
              <a:defRPr sz="2800" b="1">
                <a:solidFill>
                  <a:srgbClr val="111827"/>
                </a:solidFill>
              </a:defRPr>
            </a:pPr>
            <a:r>
              <a:t>Visa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bigger scale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983480"/>
            <a:ext cx="9601200" cy="658368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One sentence to say out loud: Visa is larger and safer; Mastercard is leaner and more aggressive.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65760"/>
            <a:ext cx="11338560" cy="777240"/>
          </a:xfrm>
          <a:prstGeom prst="roundRect">
            <a:avLst/>
          </a:prstGeom>
          <a:solidFill>
            <a:srgbClr val="7C2D12"/>
          </a:solidFill>
          <a:ln>
            <a:solidFill>
              <a:srgbClr val="7C2D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Profitability And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30936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Sources: Visa 2025 Form 10-K, Mastercard 2025 Form 10-K, official IR pages.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Net margin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36776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Visa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3080" y="1655064"/>
            <a:ext cx="2880360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3080" y="1655064"/>
            <a:ext cx="2880360" cy="1463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609344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50.1%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84248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Mastercard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2002536"/>
            <a:ext cx="2880360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83080" y="2002536"/>
            <a:ext cx="2621127" cy="146304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956816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45.6%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Debt / assets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42615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Visa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83080" y="2660903"/>
            <a:ext cx="2880360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83080" y="2660903"/>
            <a:ext cx="2073859" cy="1463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2615184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25.3%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990087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Mastercard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3008375"/>
            <a:ext cx="2880360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83080" y="3008375"/>
            <a:ext cx="2880360" cy="146304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79" y="2962656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35.1%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33756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Interest 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48456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Visa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3666744"/>
            <a:ext cx="2880360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83080" y="3666744"/>
            <a:ext cx="2880360" cy="1463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79" y="3621024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40.7x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995928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Mastercard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83080" y="4014215"/>
            <a:ext cx="2880360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83080" y="4014215"/>
            <a:ext cx="1843430" cy="146304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79" y="3968496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26.2x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0" y="1325880"/>
            <a:ext cx="2148840" cy="1508760"/>
          </a:xfrm>
          <a:prstGeom prst="roundRect">
            <a:avLst/>
          </a:prstGeom>
          <a:solidFill>
            <a:srgbClr val="DDF3EF"/>
          </a:solidFill>
          <a:ln>
            <a:solidFill>
              <a:srgbClr val="DD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Winner</a:t>
            </a:r>
          </a:p>
          <a:p>
            <a:pPr>
              <a:defRPr sz="2800" b="1">
                <a:solidFill>
                  <a:srgbClr val="111827"/>
                </a:solidFill>
              </a:defRPr>
            </a:pPr>
            <a:r>
              <a:t>Visa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better margin quality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1325880"/>
            <a:ext cx="2148840" cy="1508760"/>
          </a:xfrm>
          <a:prstGeom prst="roundRect">
            <a:avLst/>
          </a:prstGeom>
          <a:solidFill>
            <a:srgbClr val="DDF3EF"/>
          </a:solidFill>
          <a:ln>
            <a:solidFill>
              <a:srgbClr val="DD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Risk</a:t>
            </a:r>
          </a:p>
          <a:p>
            <a:pPr>
              <a:defRPr sz="2800" b="1">
                <a:solidFill>
                  <a:srgbClr val="111827"/>
                </a:solidFill>
              </a:defRPr>
            </a:pPr>
            <a:r>
              <a:t>Visa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safer leverage profile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315468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LT debt / equity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465576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Visa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20840" y="3483864"/>
            <a:ext cx="2560320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20840" y="3483864"/>
            <a:ext cx="563270" cy="1463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72599" y="3438144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51.7%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3813048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Mastercard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20840" y="3831335"/>
            <a:ext cx="2560320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20840" y="3831335"/>
            <a:ext cx="2560320" cy="146304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72599" y="3785615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235.9%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315468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ROE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3465576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Visa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760" y="3483864"/>
            <a:ext cx="1965960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09760" y="3483864"/>
            <a:ext cx="491490" cy="1463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567160" y="3438144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52.1%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813048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Mastercard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09760" y="3831335"/>
            <a:ext cx="1965960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09760" y="3831335"/>
            <a:ext cx="1965960" cy="146304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567160" y="3785615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210.5%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" y="5074920"/>
            <a:ext cx="9966960" cy="65836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Key point: Mastercard's very high ROE looks impressive, but it is boosted by a much smaller equity 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65760"/>
            <a:ext cx="11338560" cy="77724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Asset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30936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Sources: Visa 2025 Form 10-K, Mastercard 2025 Form 10-K, official IR pages.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Net PP&amp;E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36776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Visa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3080" y="1655064"/>
            <a:ext cx="3749039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3080" y="1655064"/>
            <a:ext cx="3749039" cy="1463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559" y="1609344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4.24bn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84248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Mastercard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2002536"/>
            <a:ext cx="3749039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83080" y="2002536"/>
            <a:ext cx="2024481" cy="146304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59" y="1956816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2.30bn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1460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Goodwill + intangibles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25496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Visa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83080" y="2843784"/>
            <a:ext cx="3749039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83080" y="2843784"/>
            <a:ext cx="3749039" cy="1463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59" y="2798064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47.53bn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72968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Mastercard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3191256"/>
            <a:ext cx="3749039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83080" y="3191256"/>
            <a:ext cx="1162202" cy="146304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59" y="3145536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14.94bn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0332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Total LT debt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14215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Visa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4032503"/>
            <a:ext cx="3749039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83080" y="4032503"/>
            <a:ext cx="3749039" cy="1463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23559" y="3986783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19.60bn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361688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Mastercard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83080" y="4379975"/>
            <a:ext cx="3749039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83080" y="4379975"/>
            <a:ext cx="3486607" cy="146304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23559" y="4334255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18.25bn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0" y="1554480"/>
            <a:ext cx="2240280" cy="1554480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Biggest gap</a:t>
            </a:r>
          </a:p>
          <a:p>
            <a:pPr>
              <a:defRPr sz="2800" b="1">
                <a:solidFill>
                  <a:srgbClr val="111827"/>
                </a:solidFill>
              </a:defRPr>
            </a:pPr>
            <a:r>
              <a:t>Visa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much heavier intangible base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1554480"/>
            <a:ext cx="2240280" cy="1554480"/>
          </a:xfrm>
          <a:prstGeom prst="roundRect">
            <a:avLst/>
          </a:prstGeom>
          <a:solidFill>
            <a:srgbClr val="E7F0FE"/>
          </a:solidFill>
          <a:ln>
            <a:solidFill>
              <a:srgbClr val="E7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Read carefully</a:t>
            </a:r>
          </a:p>
          <a:p>
            <a:pPr>
              <a:defRPr sz="2800" b="1">
                <a:solidFill>
                  <a:srgbClr val="111827"/>
                </a:solidFill>
              </a:defRPr>
            </a:pPr>
            <a:r>
              <a:t>Mastercard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less debt in dollars, more risky vs equity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23560" y="3840480"/>
            <a:ext cx="4800600" cy="658368"/>
          </a:xfrm>
          <a:prstGeom prst="roundRect">
            <a:avLst/>
          </a:prstGeom>
          <a:solidFill>
            <a:srgbClr val="DDF3EF"/>
          </a:solidFill>
          <a:ln>
            <a:solidFill>
              <a:srgbClr val="DD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11827"/>
                </a:solidFill>
              </a:defRPr>
            </a:pPr>
            <a:r>
              <a:t>This slide explains why turnover ratios must be interpreted with the asset mix in mind.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65760"/>
            <a:ext cx="11338560" cy="77724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30936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Sources: Visa 2025 Form 10-K, Mastercard 2025 Form 10-K, official IR pages.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ROA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36776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Visa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3080" y="1655064"/>
            <a:ext cx="3063240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3080" y="1655064"/>
            <a:ext cx="2174900" cy="1463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59" y="1609344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20.7%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84248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Mastercard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2002536"/>
            <a:ext cx="3063240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83080" y="2002536"/>
            <a:ext cx="3063240" cy="146304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1956816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29.3%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Asset turnover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42615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Visa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83080" y="2660903"/>
            <a:ext cx="3063240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83080" y="2660903"/>
            <a:ext cx="1960473" cy="1463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59" y="2615184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0.41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990087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Mastercard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3008375"/>
            <a:ext cx="3063240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83080" y="3008375"/>
            <a:ext cx="3063240" cy="146304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59" y="2962656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0.64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33756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Fixed asset turnover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48456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Visa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3666744"/>
            <a:ext cx="3063240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83080" y="3666744"/>
            <a:ext cx="2052370" cy="1463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59" y="3621024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9.93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995928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Mastercard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83080" y="4014215"/>
            <a:ext cx="3063240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83080" y="4014215"/>
            <a:ext cx="3063240" cy="146304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59" y="3968496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14.77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34340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Receivables turnover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654296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Visa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83080" y="4672583"/>
            <a:ext cx="3063240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783080" y="4672583"/>
            <a:ext cx="3063240" cy="1463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59" y="4626864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14.07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001768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Mastercard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83080" y="5020055"/>
            <a:ext cx="3063240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83080" y="5020055"/>
            <a:ext cx="1715414" cy="146304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59" y="4974336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7.82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52160" y="1417320"/>
            <a:ext cx="2148840" cy="1508760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Efficiency</a:t>
            </a:r>
          </a:p>
          <a:p>
            <a:pPr>
              <a:defRPr sz="2800" b="1">
                <a:solidFill>
                  <a:srgbClr val="111827"/>
                </a:solidFill>
              </a:defRPr>
            </a:pPr>
            <a:r>
              <a:t>Mastercard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wins 3 of 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1417320"/>
            <a:ext cx="2148840" cy="1508760"/>
          </a:xfrm>
          <a:prstGeom prst="roundRect">
            <a:avLst/>
          </a:prstGeom>
          <a:solidFill>
            <a:srgbClr val="DDF3EF"/>
          </a:solidFill>
          <a:ln>
            <a:solidFill>
              <a:srgbClr val="DD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Collection</a:t>
            </a:r>
          </a:p>
          <a:p>
            <a:pPr>
              <a:defRPr sz="2800" b="1">
                <a:solidFill>
                  <a:srgbClr val="111827"/>
                </a:solidFill>
              </a:defRPr>
            </a:pPr>
            <a:r>
              <a:t>Visa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faster receivables turn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77840" y="3429000"/>
            <a:ext cx="5166360" cy="65836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Inventory turnover is not meaningful here because both companies are service payment networks.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65760"/>
            <a:ext cx="11338560" cy="7772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Market View And Final Judgment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30936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Sources: Visa 2025 Form 10-K, Mastercard 2025 Form 10-K, official IR pages.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P/E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45336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Visa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3080" y="1563624"/>
            <a:ext cx="3200400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3080" y="1563624"/>
            <a:ext cx="3200400" cy="1463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74920" y="1517904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30.28x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92808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Mastercard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1911096"/>
            <a:ext cx="3200400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83080" y="1911096"/>
            <a:ext cx="3200400" cy="146304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865376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30.41x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Price / 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51176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Visa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83080" y="2569464"/>
            <a:ext cx="3200400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83080" y="2569464"/>
            <a:ext cx="768096" cy="1463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2523744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13.75x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898648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Mastercard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2916936"/>
            <a:ext cx="3200400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83080" y="2916936"/>
            <a:ext cx="3200400" cy="146304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2871216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57.48x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4612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Dividend payout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557015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Visa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3575303"/>
            <a:ext cx="3200400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83080" y="3575303"/>
            <a:ext cx="3200400" cy="1463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529584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23.1%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904487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63"/>
                </a:solidFill>
              </a:defRPr>
            </a:pPr>
            <a:r>
              <a:t>Mastercard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83080" y="3922775"/>
            <a:ext cx="3200400" cy="14630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83080" y="3922775"/>
            <a:ext cx="2560320" cy="146304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3877055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18.4%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0" y="1143000"/>
            <a:ext cx="2331720" cy="1645920"/>
          </a:xfrm>
          <a:prstGeom prst="roundRect">
            <a:avLst/>
          </a:prstGeom>
          <a:solidFill>
            <a:srgbClr val="DDF3EF"/>
          </a:solidFill>
          <a:ln>
            <a:solidFill>
              <a:srgbClr val="DD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Overall winner</a:t>
            </a:r>
          </a:p>
          <a:p>
            <a:pPr>
              <a:defRPr sz="2800" b="1">
                <a:solidFill>
                  <a:srgbClr val="111827"/>
                </a:solidFill>
              </a:defRPr>
            </a:pPr>
            <a:r>
              <a:t>Visa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better financial quality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1143000"/>
            <a:ext cx="2331720" cy="1645920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Operational edge</a:t>
            </a:r>
          </a:p>
          <a:p>
            <a:pPr>
              <a:defRPr sz="2800" b="1">
                <a:solidFill>
                  <a:srgbClr val="111827"/>
                </a:solidFill>
              </a:defRPr>
            </a:pPr>
            <a:r>
              <a:t>Mastercard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better asset efficiency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77840" y="3246120"/>
            <a:ext cx="2194560" cy="658368"/>
          </a:xfrm>
          <a:prstGeom prst="round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111827"/>
                </a:solidFill>
              </a:defRPr>
            </a:pPr>
            <a:r>
              <a:t>Visa wins on</a:t>
            </a:r>
          </a:p>
          <a:p>
            <a:pPr>
              <a:defRPr sz="1800" b="1">
                <a:solidFill>
                  <a:srgbClr val="111827"/>
                </a:solidFill>
              </a:defRPr>
            </a:pPr>
            <a:r>
              <a:t>margin, leverage, payout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79" y="3246120"/>
            <a:ext cx="2194560" cy="658368"/>
          </a:xfrm>
          <a:prstGeom prst="roundRect">
            <a:avLst/>
          </a:prstGeom>
          <a:solidFill>
            <a:srgbClr val="FEEBEB"/>
          </a:solidFill>
          <a:ln>
            <a:solidFill>
              <a:srgbClr val="FE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111827"/>
                </a:solidFill>
              </a:defRPr>
            </a:pPr>
            <a:r>
              <a:t>Mastercard wins on</a:t>
            </a:r>
          </a:p>
          <a:p>
            <a:pPr>
              <a:defRPr sz="1800" b="1">
                <a:solidFill>
                  <a:srgbClr val="111827"/>
                </a:solidFill>
              </a:defRPr>
            </a:pPr>
            <a:r>
              <a:t>ROA and turnover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5257800"/>
            <a:ext cx="9966960" cy="64008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Final call: Mastercard is more efficient operationally, but Visa performs better financially overall.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