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11480" y="502920"/>
            <a:ext cx="11338560" cy="960120"/>
          </a:xfrm>
          <a:prstGeom prst="rect">
            <a:avLst/>
          </a:prstGeom>
          <a:solidFill>
            <a:srgbClr val="0F766E"/>
          </a:solidFill>
          <a:ln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Visa vs Mastercard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691640"/>
            <a:ext cx="106070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1F2937"/>
                </a:solidFill>
              </a:defRPr>
            </a:pPr>
            <a:r>
              <a:t>FY2025 comparative analysis based on official filings, with market prices checked on official investor quote pages on April 24, 2026.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468880"/>
            <a:ext cx="4480560" cy="1463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F766E"/>
                </a:solidFill>
              </a:defRPr>
            </a:pPr>
            <a:r>
              <a:t>Question</a:t>
            </a:r>
          </a:p>
          <a:p>
            <a:pPr>
              <a:defRPr sz="2400" b="1">
                <a:solidFill>
                  <a:srgbClr val="111827"/>
                </a:solidFill>
              </a:defRPr>
            </a:pPr>
            <a:r>
              <a:t>Which company performs better financially?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5349240"/>
            <a:ext cx="2377440" cy="594360"/>
          </a:xfrm>
          <a:prstGeom prst="roundRect">
            <a:avLst/>
          </a:prstGeom>
          <a:solidFill>
            <a:srgbClr val="DDF3EF"/>
          </a:solidFill>
          <a:ln>
            <a:solidFill>
              <a:srgbClr val="DDF3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 b="1">
                <a:solidFill>
                  <a:srgbClr val="0F766E"/>
                </a:solidFill>
              </a:defRPr>
            </a:pPr>
            <a:r>
              <a:t>FY2025 official filings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54680" y="5349240"/>
            <a:ext cx="2606040" cy="594360"/>
          </a:xfrm>
          <a:prstGeom prst="roundRect">
            <a:avLst/>
          </a:prstGeom>
          <a:solidFill>
            <a:srgbClr val="FEF3C7"/>
          </a:solidFill>
          <a:ln>
            <a:solidFill>
              <a:srgbClr val="FEF3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 b="1">
                <a:solidFill>
                  <a:srgbClr val="92400E"/>
                </a:solidFill>
              </a:defRPr>
            </a:pPr>
            <a:r>
              <a:t>6 slides / 8-10 minutes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365760"/>
            <a:ext cx="11338560" cy="777240"/>
          </a:xfrm>
          <a:prstGeom prst="roundRect">
            <a:avLst/>
          </a:prstGeom>
          <a:solidFill>
            <a:srgbClr val="0F766E"/>
          </a:solidFill>
          <a:ln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1. Same Industry, Different Financial Profile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309360"/>
            <a:ext cx="107899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B7280"/>
                </a:solidFill>
              </a:defRPr>
            </a:pPr>
            <a:r>
              <a:t>Sources: Visa 2025 Form 10-K, Mastercard 2025 Form 10-K, official IR pages.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325880"/>
            <a:ext cx="2560320" cy="914400"/>
          </a:xfrm>
          <a:prstGeom prst="roundRect">
            <a:avLst/>
          </a:prstGeom>
          <a:solidFill>
            <a:srgbClr val="0F766E"/>
          </a:solidFill>
          <a:ln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Visa</a:t>
            </a:r>
          </a:p>
          <a:p>
            <a:pPr>
              <a:defRPr sz="1400">
                <a:solidFill>
                  <a:srgbClr val="F5F5F5"/>
                </a:solidFill>
              </a:defRPr>
            </a:pPr>
            <a:r>
              <a:t>Scale + cleaner balance sheet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11880" y="1325880"/>
            <a:ext cx="2834640" cy="914400"/>
          </a:xfrm>
          <a:prstGeom prst="roundRect">
            <a:avLst/>
          </a:prstGeom>
          <a:solidFill>
            <a:srgbClr val="B91C1C"/>
          </a:solidFill>
          <a:ln>
            <a:solidFill>
              <a:srgbClr val="B9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Mastercard</a:t>
            </a:r>
          </a:p>
          <a:p>
            <a:pPr>
              <a:defRPr sz="1400">
                <a:solidFill>
                  <a:srgbClr val="F5F5F5"/>
                </a:solidFill>
              </a:defRPr>
            </a:pPr>
            <a:r>
              <a:t>Efficiency + thinner equity base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560320"/>
            <a:ext cx="4754880" cy="658368"/>
          </a:xfrm>
          <a:prstGeom prst="roundRect">
            <a:avLst/>
          </a:prstGeom>
          <a:solidFill>
            <a:srgbClr val="DDF3EF"/>
          </a:solidFill>
          <a:ln>
            <a:solidFill>
              <a:srgbClr val="DDF3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800" b="1">
                <a:solidFill>
                  <a:srgbClr val="111827"/>
                </a:solidFill>
              </a:defRPr>
            </a:pPr>
            <a:r>
              <a:t>Same business model: global payment networks, not banks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715000" y="2560320"/>
            <a:ext cx="4572000" cy="658368"/>
          </a:xfrm>
          <a:prstGeom prst="roundRect">
            <a:avLst/>
          </a:prstGeom>
          <a:solidFill>
            <a:srgbClr val="FEF3C7"/>
          </a:solidFill>
          <a:ln>
            <a:solidFill>
              <a:srgbClr val="FEF3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600" b="1">
                <a:solidFill>
                  <a:srgbClr val="111827"/>
                </a:solidFill>
              </a:defRPr>
            </a:pPr>
            <a:r>
              <a:t>The comparison is really about margins, leverage and asset use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3657600"/>
            <a:ext cx="1737360" cy="658368"/>
          </a:xfrm>
          <a:prstGeom prst="roundRect">
            <a:avLst/>
          </a:prstGeom>
          <a:solidFill>
            <a:srgbClr val="E6F4F1"/>
          </a:solidFill>
          <a:ln>
            <a:solidFill>
              <a:srgbClr val="E6F4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100" b="1">
                <a:solidFill>
                  <a:srgbClr val="111827"/>
                </a:solidFill>
              </a:defRPr>
            </a:pPr>
            <a:r>
              <a:t>Revenue</a:t>
            </a:r>
          </a:p>
          <a:p>
            <a:pPr>
              <a:defRPr sz="1800" b="1">
                <a:solidFill>
                  <a:srgbClr val="111827"/>
                </a:solidFill>
              </a:defRPr>
            </a:pPr>
            <a:r>
              <a:t>$39.1bn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697480" y="3657600"/>
            <a:ext cx="1737360" cy="658368"/>
          </a:xfrm>
          <a:prstGeom prst="roundRect">
            <a:avLst/>
          </a:prstGeom>
          <a:solidFill>
            <a:srgbClr val="E6F4F1"/>
          </a:solidFill>
          <a:ln>
            <a:solidFill>
              <a:srgbClr val="E6F4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100" b="1">
                <a:solidFill>
                  <a:srgbClr val="111827"/>
                </a:solidFill>
              </a:defRPr>
            </a:pPr>
            <a:r>
              <a:t>Net income</a:t>
            </a:r>
          </a:p>
          <a:p>
            <a:pPr>
              <a:defRPr sz="1800" b="1">
                <a:solidFill>
                  <a:srgbClr val="111827"/>
                </a:solidFill>
              </a:defRPr>
            </a:pPr>
            <a:r>
              <a:t>$19.6bn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663440" y="3657600"/>
            <a:ext cx="1737360" cy="658368"/>
          </a:xfrm>
          <a:prstGeom prst="roundRect">
            <a:avLst/>
          </a:prstGeom>
          <a:solidFill>
            <a:srgbClr val="FEE2E2"/>
          </a:solidFill>
          <a:ln>
            <a:solidFill>
              <a:srgbClr val="FEE2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100" b="1">
                <a:solidFill>
                  <a:srgbClr val="111827"/>
                </a:solidFill>
              </a:defRPr>
            </a:pPr>
            <a:r>
              <a:t>Revenue</a:t>
            </a:r>
          </a:p>
          <a:p>
            <a:pPr>
              <a:defRPr sz="1800" b="1">
                <a:solidFill>
                  <a:srgbClr val="111827"/>
                </a:solidFill>
              </a:defRPr>
            </a:pPr>
            <a:r>
              <a:t>$32.0bn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629400" y="3657600"/>
            <a:ext cx="1737360" cy="658368"/>
          </a:xfrm>
          <a:prstGeom prst="roundRect">
            <a:avLst/>
          </a:prstGeom>
          <a:solidFill>
            <a:srgbClr val="FEE2E2"/>
          </a:solidFill>
          <a:ln>
            <a:solidFill>
              <a:srgbClr val="FEE2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100" b="1">
                <a:solidFill>
                  <a:srgbClr val="111827"/>
                </a:solidFill>
              </a:defRPr>
            </a:pPr>
            <a:r>
              <a:t>Net income</a:t>
            </a:r>
          </a:p>
          <a:p>
            <a:pPr>
              <a:defRPr sz="1800" b="1">
                <a:solidFill>
                  <a:srgbClr val="111827"/>
                </a:solidFill>
              </a:defRPr>
            </a:pPr>
            <a:r>
              <a:t>$14.6bn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823960" y="3429000"/>
            <a:ext cx="1920240" cy="1508760"/>
          </a:xfrm>
          <a:prstGeom prst="roundRect">
            <a:avLst/>
          </a:prstGeom>
          <a:solidFill>
            <a:srgbClr val="DDF3EF"/>
          </a:solidFill>
          <a:ln>
            <a:solidFill>
              <a:srgbClr val="DDF3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800" b="1">
                <a:solidFill>
                  <a:srgbClr val="111827"/>
                </a:solidFill>
              </a:defRPr>
            </a:pPr>
            <a:r>
              <a:t>Visual cue</a:t>
            </a:r>
          </a:p>
          <a:p>
            <a:pPr>
              <a:defRPr sz="2800" b="1">
                <a:solidFill>
                  <a:srgbClr val="111827"/>
                </a:solidFill>
              </a:defRPr>
            </a:pPr>
            <a:r>
              <a:t>Visa</a:t>
            </a:r>
          </a:p>
          <a:p>
            <a:pPr>
              <a:defRPr sz="1300">
                <a:solidFill>
                  <a:srgbClr val="374151"/>
                </a:solidFill>
              </a:defRPr>
            </a:pPr>
            <a:r>
              <a:t>bigger scale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097280" y="4983480"/>
            <a:ext cx="9601200" cy="658368"/>
          </a:xfrm>
          <a:prstGeom prst="round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800" b="1">
                <a:solidFill>
                  <a:srgbClr val="FFFFFF"/>
                </a:solidFill>
              </a:defRPr>
            </a:pPr>
            <a:r>
              <a:t>One sentence to say out loud: Visa is larger and safer; Mastercard is leaner and more aggressive.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365760"/>
            <a:ext cx="11338560" cy="777240"/>
          </a:xfrm>
          <a:prstGeom prst="roundRect">
            <a:avLst/>
          </a:prstGeom>
          <a:solidFill>
            <a:srgbClr val="7C2D12"/>
          </a:solidFill>
          <a:ln>
            <a:solidFill>
              <a:srgbClr val="7C2D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2. Profitability And Risk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309360"/>
            <a:ext cx="107899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B7280"/>
                </a:solidFill>
              </a:defRPr>
            </a:pPr>
            <a:r>
              <a:t>Sources: Visa 2025 Form 10-K, Mastercard 2025 Form 10-K, official IR pages.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25880"/>
            <a:ext cx="21488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111827"/>
                </a:solidFill>
              </a:defRPr>
            </a:pPr>
            <a:r>
              <a:t>Net margin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36776"/>
            <a:ext cx="10058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4B5563"/>
                </a:solidFill>
              </a:defRPr>
            </a:pPr>
            <a:r>
              <a:t>Visa</a:t>
            </a:r>
          </a:p>
        </p:txBody>
      </p:sp>
      <p:sp>
        <p:nvSpPr>
          <p:cNvPr id="6" name="Rectangle 5"/>
          <p:cNvSpPr/>
          <p:nvPr/>
        </p:nvSpPr>
        <p:spPr>
          <a:xfrm>
            <a:off x="1783080" y="1655064"/>
            <a:ext cx="2880360" cy="146304"/>
          </a:xfrm>
          <a:prstGeom prst="rect">
            <a:avLst/>
          </a:prstGeom>
          <a:solidFill>
            <a:srgbClr val="E5E7EB"/>
          </a:solidFill>
          <a:ln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783080" y="1655064"/>
            <a:ext cx="2880360" cy="146304"/>
          </a:xfrm>
          <a:prstGeom prst="rect">
            <a:avLst/>
          </a:prstGeom>
          <a:solidFill>
            <a:srgbClr val="0F766E"/>
          </a:solidFill>
          <a:ln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79" y="1609344"/>
            <a:ext cx="1143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111827"/>
                </a:solidFill>
              </a:defRPr>
            </a:pPr>
            <a:r>
              <a:t>50.1%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1984248"/>
            <a:ext cx="10058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4B5563"/>
                </a:solidFill>
              </a:defRPr>
            </a:pPr>
            <a:r>
              <a:t>Mastercard</a:t>
            </a:r>
          </a:p>
        </p:txBody>
      </p:sp>
      <p:sp>
        <p:nvSpPr>
          <p:cNvPr id="10" name="Rectangle 9"/>
          <p:cNvSpPr/>
          <p:nvPr/>
        </p:nvSpPr>
        <p:spPr>
          <a:xfrm>
            <a:off x="1783080" y="2002536"/>
            <a:ext cx="2880360" cy="146304"/>
          </a:xfrm>
          <a:prstGeom prst="rect">
            <a:avLst/>
          </a:prstGeom>
          <a:solidFill>
            <a:srgbClr val="E5E7EB"/>
          </a:solidFill>
          <a:ln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783080" y="2002536"/>
            <a:ext cx="2621127" cy="146304"/>
          </a:xfrm>
          <a:prstGeom prst="rect">
            <a:avLst/>
          </a:prstGeom>
          <a:solidFill>
            <a:srgbClr val="B91C1C"/>
          </a:solidFill>
          <a:ln>
            <a:solidFill>
              <a:srgbClr val="B9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79" y="1956816"/>
            <a:ext cx="1143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111827"/>
                </a:solidFill>
              </a:defRPr>
            </a:pPr>
            <a:r>
              <a:t>45.6%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2331720"/>
            <a:ext cx="21488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111827"/>
                </a:solidFill>
              </a:defRPr>
            </a:pPr>
            <a:r>
              <a:t>Debt / assets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2642615"/>
            <a:ext cx="10058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4B5563"/>
                </a:solidFill>
              </a:defRPr>
            </a:pPr>
            <a:r>
              <a:t>Visa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783080" y="2660903"/>
            <a:ext cx="2880360" cy="146304"/>
          </a:xfrm>
          <a:prstGeom prst="rect">
            <a:avLst/>
          </a:prstGeom>
          <a:solidFill>
            <a:srgbClr val="E5E7EB"/>
          </a:solidFill>
          <a:ln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783080" y="2660903"/>
            <a:ext cx="2073859" cy="146304"/>
          </a:xfrm>
          <a:prstGeom prst="rect">
            <a:avLst/>
          </a:prstGeom>
          <a:solidFill>
            <a:srgbClr val="0F766E"/>
          </a:solidFill>
          <a:ln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54879" y="2615184"/>
            <a:ext cx="1143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111827"/>
                </a:solidFill>
              </a:defRPr>
            </a:pPr>
            <a:r>
              <a:t>25.3%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2990087"/>
            <a:ext cx="10058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4B5563"/>
                </a:solidFill>
              </a:defRPr>
            </a:pPr>
            <a:r>
              <a:t>Mastercard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783080" y="3008375"/>
            <a:ext cx="2880360" cy="146304"/>
          </a:xfrm>
          <a:prstGeom prst="rect">
            <a:avLst/>
          </a:prstGeom>
          <a:solidFill>
            <a:srgbClr val="E5E7EB"/>
          </a:solidFill>
          <a:ln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783080" y="3008375"/>
            <a:ext cx="2880360" cy="146304"/>
          </a:xfrm>
          <a:prstGeom prst="rect">
            <a:avLst/>
          </a:prstGeom>
          <a:solidFill>
            <a:srgbClr val="B91C1C"/>
          </a:solidFill>
          <a:ln>
            <a:solidFill>
              <a:srgbClr val="B9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754879" y="2962656"/>
            <a:ext cx="1143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111827"/>
                </a:solidFill>
              </a:defRPr>
            </a:pPr>
            <a:r>
              <a:t>35.1%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3337560"/>
            <a:ext cx="21488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111827"/>
                </a:solidFill>
              </a:defRPr>
            </a:pPr>
            <a:r>
              <a:t>Interest coverage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3648456"/>
            <a:ext cx="10058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4B5563"/>
                </a:solidFill>
              </a:defRPr>
            </a:pPr>
            <a:r>
              <a:t>Visa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783080" y="3666744"/>
            <a:ext cx="2880360" cy="146304"/>
          </a:xfrm>
          <a:prstGeom prst="rect">
            <a:avLst/>
          </a:prstGeom>
          <a:solidFill>
            <a:srgbClr val="E5E7EB"/>
          </a:solidFill>
          <a:ln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783080" y="3666744"/>
            <a:ext cx="2880360" cy="146304"/>
          </a:xfrm>
          <a:prstGeom prst="rect">
            <a:avLst/>
          </a:prstGeom>
          <a:solidFill>
            <a:srgbClr val="0F766E"/>
          </a:solidFill>
          <a:ln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754879" y="3621024"/>
            <a:ext cx="1143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111827"/>
                </a:solidFill>
              </a:defRPr>
            </a:pPr>
            <a:r>
              <a:t>40.7x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1520" y="3995928"/>
            <a:ext cx="10058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4B5563"/>
                </a:solidFill>
              </a:defRPr>
            </a:pPr>
            <a:r>
              <a:t>Mastercard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783080" y="4014215"/>
            <a:ext cx="2880360" cy="146304"/>
          </a:xfrm>
          <a:prstGeom prst="rect">
            <a:avLst/>
          </a:prstGeom>
          <a:solidFill>
            <a:srgbClr val="E5E7EB"/>
          </a:solidFill>
          <a:ln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783080" y="4014215"/>
            <a:ext cx="1843430" cy="146304"/>
          </a:xfrm>
          <a:prstGeom prst="rect">
            <a:avLst/>
          </a:prstGeom>
          <a:solidFill>
            <a:srgbClr val="B91C1C"/>
          </a:solidFill>
          <a:ln>
            <a:solidFill>
              <a:srgbClr val="B9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754879" y="3968496"/>
            <a:ext cx="1143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111827"/>
                </a:solidFill>
              </a:defRPr>
            </a:pPr>
            <a:r>
              <a:t>26.2x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669280" y="1325880"/>
            <a:ext cx="2148840" cy="1508760"/>
          </a:xfrm>
          <a:prstGeom prst="roundRect">
            <a:avLst/>
          </a:prstGeom>
          <a:solidFill>
            <a:srgbClr val="DDF3EF"/>
          </a:solidFill>
          <a:ln>
            <a:solidFill>
              <a:srgbClr val="DDF3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800" b="1">
                <a:solidFill>
                  <a:srgbClr val="111827"/>
                </a:solidFill>
              </a:defRPr>
            </a:pPr>
            <a:r>
              <a:t>Winner</a:t>
            </a:r>
          </a:p>
          <a:p>
            <a:pPr>
              <a:defRPr sz="2800" b="1">
                <a:solidFill>
                  <a:srgbClr val="111827"/>
                </a:solidFill>
              </a:defRPr>
            </a:pPr>
            <a:r>
              <a:t>Visa</a:t>
            </a:r>
          </a:p>
          <a:p>
            <a:pPr>
              <a:defRPr sz="1300">
                <a:solidFill>
                  <a:srgbClr val="374151"/>
                </a:solidFill>
              </a:defRPr>
            </a:pPr>
            <a:r>
              <a:t>better margin quality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092440" y="1325880"/>
            <a:ext cx="2148840" cy="1508760"/>
          </a:xfrm>
          <a:prstGeom prst="roundRect">
            <a:avLst/>
          </a:prstGeom>
          <a:solidFill>
            <a:srgbClr val="DDF3EF"/>
          </a:solidFill>
          <a:ln>
            <a:solidFill>
              <a:srgbClr val="DDF3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800" b="1">
                <a:solidFill>
                  <a:srgbClr val="111827"/>
                </a:solidFill>
              </a:defRPr>
            </a:pPr>
            <a:r>
              <a:t>Risk</a:t>
            </a:r>
          </a:p>
          <a:p>
            <a:pPr>
              <a:defRPr sz="2800" b="1">
                <a:solidFill>
                  <a:srgbClr val="111827"/>
                </a:solidFill>
              </a:defRPr>
            </a:pPr>
            <a:r>
              <a:t>Visa</a:t>
            </a:r>
          </a:p>
          <a:p>
            <a:pPr>
              <a:defRPr sz="1300">
                <a:solidFill>
                  <a:srgbClr val="374151"/>
                </a:solidFill>
              </a:defRPr>
            </a:pPr>
            <a:r>
              <a:t>safer leverage profile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669280" y="3154680"/>
            <a:ext cx="21488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111827"/>
                </a:solidFill>
              </a:defRPr>
            </a:pPr>
            <a:r>
              <a:t>LT debt / equity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669280" y="3465576"/>
            <a:ext cx="10058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4B5563"/>
                </a:solidFill>
              </a:defRPr>
            </a:pPr>
            <a:r>
              <a:t>Visa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720840" y="3483864"/>
            <a:ext cx="2560320" cy="146304"/>
          </a:xfrm>
          <a:prstGeom prst="rect">
            <a:avLst/>
          </a:prstGeom>
          <a:solidFill>
            <a:srgbClr val="E5E7EB"/>
          </a:solidFill>
          <a:ln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720840" y="3483864"/>
            <a:ext cx="563270" cy="146304"/>
          </a:xfrm>
          <a:prstGeom prst="rect">
            <a:avLst/>
          </a:prstGeom>
          <a:solidFill>
            <a:srgbClr val="0F766E"/>
          </a:solidFill>
          <a:ln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372599" y="3438144"/>
            <a:ext cx="1143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111827"/>
                </a:solidFill>
              </a:defRPr>
            </a:pPr>
            <a:r>
              <a:t>51.7%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669280" y="3813048"/>
            <a:ext cx="10058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4B5563"/>
                </a:solidFill>
              </a:defRPr>
            </a:pPr>
            <a:r>
              <a:t>Mastercard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720840" y="3831335"/>
            <a:ext cx="2560320" cy="146304"/>
          </a:xfrm>
          <a:prstGeom prst="rect">
            <a:avLst/>
          </a:prstGeom>
          <a:solidFill>
            <a:srgbClr val="E5E7EB"/>
          </a:solidFill>
          <a:ln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6720840" y="3831335"/>
            <a:ext cx="2560320" cy="146304"/>
          </a:xfrm>
          <a:prstGeom prst="rect">
            <a:avLst/>
          </a:prstGeom>
          <a:solidFill>
            <a:srgbClr val="B91C1C"/>
          </a:solidFill>
          <a:ln>
            <a:solidFill>
              <a:srgbClr val="B9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372599" y="3785615"/>
            <a:ext cx="1143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111827"/>
                </a:solidFill>
              </a:defRPr>
            </a:pPr>
            <a:r>
              <a:t>235.9%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458200" y="3154680"/>
            <a:ext cx="21488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111827"/>
                </a:solidFill>
              </a:defRPr>
            </a:pPr>
            <a:r>
              <a:t>ROE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458200" y="3465576"/>
            <a:ext cx="10058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4B5563"/>
                </a:solidFill>
              </a:defRPr>
            </a:pPr>
            <a:r>
              <a:t>Visa</a:t>
            </a:r>
          </a:p>
        </p:txBody>
      </p:sp>
      <p:sp>
        <p:nvSpPr>
          <p:cNvPr id="44" name="Rectangle 43"/>
          <p:cNvSpPr/>
          <p:nvPr/>
        </p:nvSpPr>
        <p:spPr>
          <a:xfrm>
            <a:off x="9509760" y="3483864"/>
            <a:ext cx="1965960" cy="146304"/>
          </a:xfrm>
          <a:prstGeom prst="rect">
            <a:avLst/>
          </a:prstGeom>
          <a:solidFill>
            <a:srgbClr val="E5E7EB"/>
          </a:solidFill>
          <a:ln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9509760" y="3483864"/>
            <a:ext cx="491490" cy="146304"/>
          </a:xfrm>
          <a:prstGeom prst="rect">
            <a:avLst/>
          </a:prstGeom>
          <a:solidFill>
            <a:srgbClr val="0F766E"/>
          </a:solidFill>
          <a:ln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1567160" y="3438144"/>
            <a:ext cx="1143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111827"/>
                </a:solidFill>
              </a:defRPr>
            </a:pPr>
            <a:r>
              <a:t>52.1%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458200" y="3813048"/>
            <a:ext cx="10058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4B5563"/>
                </a:solidFill>
              </a:defRPr>
            </a:pPr>
            <a:r>
              <a:t>Mastercard</a:t>
            </a:r>
          </a:p>
        </p:txBody>
      </p:sp>
      <p:sp>
        <p:nvSpPr>
          <p:cNvPr id="48" name="Rectangle 47"/>
          <p:cNvSpPr/>
          <p:nvPr/>
        </p:nvSpPr>
        <p:spPr>
          <a:xfrm>
            <a:off x="9509760" y="3831335"/>
            <a:ext cx="1965960" cy="146304"/>
          </a:xfrm>
          <a:prstGeom prst="rect">
            <a:avLst/>
          </a:prstGeom>
          <a:solidFill>
            <a:srgbClr val="E5E7EB"/>
          </a:solidFill>
          <a:ln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9509760" y="3831335"/>
            <a:ext cx="1965960" cy="146304"/>
          </a:xfrm>
          <a:prstGeom prst="rect">
            <a:avLst/>
          </a:prstGeom>
          <a:solidFill>
            <a:srgbClr val="B91C1C"/>
          </a:solidFill>
          <a:ln>
            <a:solidFill>
              <a:srgbClr val="B9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1567160" y="3785615"/>
            <a:ext cx="1143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111827"/>
                </a:solidFill>
              </a:defRPr>
            </a:pPr>
            <a:r>
              <a:t>210.5%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914400" y="5074920"/>
            <a:ext cx="9966960" cy="658368"/>
          </a:xfrm>
          <a:prstGeom prst="roundRect">
            <a:avLst/>
          </a:prstGeom>
          <a:solidFill>
            <a:srgbClr val="FEE2E2"/>
          </a:solidFill>
          <a:ln>
            <a:solidFill>
              <a:srgbClr val="FEE2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700" b="1">
                <a:solidFill>
                  <a:srgbClr val="111827"/>
                </a:solidFill>
              </a:defRPr>
            </a:pPr>
            <a:r>
              <a:t>Key point: Mastercard's very high ROE looks impressive, but it is boosted by a much smaller equity base.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365760"/>
            <a:ext cx="11338560" cy="777240"/>
          </a:xfrm>
          <a:prstGeom prst="roundRect">
            <a:avLst/>
          </a:prstGeom>
          <a:solidFill>
            <a:srgbClr val="1F4E79"/>
          </a:solidFill>
          <a:ln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3. Asset Structure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309360"/>
            <a:ext cx="107899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B7280"/>
                </a:solidFill>
              </a:defRPr>
            </a:pPr>
            <a:r>
              <a:t>Sources: Visa 2025 Form 10-K, Mastercard 2025 Form 10-K, official IR pages.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25880"/>
            <a:ext cx="21488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111827"/>
                </a:solidFill>
              </a:defRPr>
            </a:pPr>
            <a:r>
              <a:t>Net PP&amp;E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36776"/>
            <a:ext cx="10058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4B5563"/>
                </a:solidFill>
              </a:defRPr>
            </a:pPr>
            <a:r>
              <a:t>Visa</a:t>
            </a:r>
          </a:p>
        </p:txBody>
      </p:sp>
      <p:sp>
        <p:nvSpPr>
          <p:cNvPr id="6" name="Rectangle 5"/>
          <p:cNvSpPr/>
          <p:nvPr/>
        </p:nvSpPr>
        <p:spPr>
          <a:xfrm>
            <a:off x="1783080" y="1655064"/>
            <a:ext cx="3749039" cy="146304"/>
          </a:xfrm>
          <a:prstGeom prst="rect">
            <a:avLst/>
          </a:prstGeom>
          <a:solidFill>
            <a:srgbClr val="E5E7EB"/>
          </a:solidFill>
          <a:ln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783080" y="1655064"/>
            <a:ext cx="3749039" cy="146304"/>
          </a:xfrm>
          <a:prstGeom prst="rect">
            <a:avLst/>
          </a:prstGeom>
          <a:solidFill>
            <a:srgbClr val="0F766E"/>
          </a:solidFill>
          <a:ln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23559" y="1609344"/>
            <a:ext cx="1143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111827"/>
                </a:solidFill>
              </a:defRPr>
            </a:pPr>
            <a:r>
              <a:t>4.24bn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1984248"/>
            <a:ext cx="10058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4B5563"/>
                </a:solidFill>
              </a:defRPr>
            </a:pPr>
            <a:r>
              <a:t>Mastercard</a:t>
            </a:r>
          </a:p>
        </p:txBody>
      </p:sp>
      <p:sp>
        <p:nvSpPr>
          <p:cNvPr id="10" name="Rectangle 9"/>
          <p:cNvSpPr/>
          <p:nvPr/>
        </p:nvSpPr>
        <p:spPr>
          <a:xfrm>
            <a:off x="1783080" y="2002536"/>
            <a:ext cx="3749039" cy="146304"/>
          </a:xfrm>
          <a:prstGeom prst="rect">
            <a:avLst/>
          </a:prstGeom>
          <a:solidFill>
            <a:srgbClr val="E5E7EB"/>
          </a:solidFill>
          <a:ln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783080" y="2002536"/>
            <a:ext cx="2024481" cy="146304"/>
          </a:xfrm>
          <a:prstGeom prst="rect">
            <a:avLst/>
          </a:prstGeom>
          <a:solidFill>
            <a:srgbClr val="B91C1C"/>
          </a:solidFill>
          <a:ln>
            <a:solidFill>
              <a:srgbClr val="B9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23559" y="1956816"/>
            <a:ext cx="1143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111827"/>
                </a:solidFill>
              </a:defRPr>
            </a:pPr>
            <a:r>
              <a:t>2.30bn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2514600"/>
            <a:ext cx="21488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111827"/>
                </a:solidFill>
              </a:defRPr>
            </a:pPr>
            <a:r>
              <a:t>Goodwill + intangibles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2825496"/>
            <a:ext cx="10058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4B5563"/>
                </a:solidFill>
              </a:defRPr>
            </a:pPr>
            <a:r>
              <a:t>Visa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783080" y="2843784"/>
            <a:ext cx="3749039" cy="146304"/>
          </a:xfrm>
          <a:prstGeom prst="rect">
            <a:avLst/>
          </a:prstGeom>
          <a:solidFill>
            <a:srgbClr val="E5E7EB"/>
          </a:solidFill>
          <a:ln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783080" y="2843784"/>
            <a:ext cx="3749039" cy="146304"/>
          </a:xfrm>
          <a:prstGeom prst="rect">
            <a:avLst/>
          </a:prstGeom>
          <a:solidFill>
            <a:srgbClr val="0F766E"/>
          </a:solidFill>
          <a:ln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23559" y="2798064"/>
            <a:ext cx="1143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111827"/>
                </a:solidFill>
              </a:defRPr>
            </a:pPr>
            <a:r>
              <a:t>47.53bn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3172968"/>
            <a:ext cx="10058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4B5563"/>
                </a:solidFill>
              </a:defRPr>
            </a:pPr>
            <a:r>
              <a:t>Mastercard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783080" y="3191256"/>
            <a:ext cx="3749039" cy="146304"/>
          </a:xfrm>
          <a:prstGeom prst="rect">
            <a:avLst/>
          </a:prstGeom>
          <a:solidFill>
            <a:srgbClr val="E5E7EB"/>
          </a:solidFill>
          <a:ln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783080" y="3191256"/>
            <a:ext cx="1162202" cy="146304"/>
          </a:xfrm>
          <a:prstGeom prst="rect">
            <a:avLst/>
          </a:prstGeom>
          <a:solidFill>
            <a:srgbClr val="B91C1C"/>
          </a:solidFill>
          <a:ln>
            <a:solidFill>
              <a:srgbClr val="B9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623559" y="3145536"/>
            <a:ext cx="1143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111827"/>
                </a:solidFill>
              </a:defRPr>
            </a:pPr>
            <a:r>
              <a:t>14.94bn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3703320"/>
            <a:ext cx="21488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111827"/>
                </a:solidFill>
              </a:defRPr>
            </a:pPr>
            <a:r>
              <a:t>Total LT debt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4014215"/>
            <a:ext cx="10058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4B5563"/>
                </a:solidFill>
              </a:defRPr>
            </a:pPr>
            <a:r>
              <a:t>Visa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783080" y="4032503"/>
            <a:ext cx="3749039" cy="146304"/>
          </a:xfrm>
          <a:prstGeom prst="rect">
            <a:avLst/>
          </a:prstGeom>
          <a:solidFill>
            <a:srgbClr val="E5E7EB"/>
          </a:solidFill>
          <a:ln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783080" y="4032503"/>
            <a:ext cx="3749039" cy="146304"/>
          </a:xfrm>
          <a:prstGeom prst="rect">
            <a:avLst/>
          </a:prstGeom>
          <a:solidFill>
            <a:srgbClr val="0F766E"/>
          </a:solidFill>
          <a:ln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623559" y="3986783"/>
            <a:ext cx="1143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111827"/>
                </a:solidFill>
              </a:defRPr>
            </a:pPr>
            <a:r>
              <a:t>19.60bn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1520" y="4361688"/>
            <a:ext cx="10058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4B5563"/>
                </a:solidFill>
              </a:defRPr>
            </a:pPr>
            <a:r>
              <a:t>Mastercard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783080" y="4379975"/>
            <a:ext cx="3749039" cy="146304"/>
          </a:xfrm>
          <a:prstGeom prst="rect">
            <a:avLst/>
          </a:prstGeom>
          <a:solidFill>
            <a:srgbClr val="E5E7EB"/>
          </a:solidFill>
          <a:ln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783080" y="4379975"/>
            <a:ext cx="3486607" cy="146304"/>
          </a:xfrm>
          <a:prstGeom prst="rect">
            <a:avLst/>
          </a:prstGeom>
          <a:solidFill>
            <a:srgbClr val="B91C1C"/>
          </a:solidFill>
          <a:ln>
            <a:solidFill>
              <a:srgbClr val="B9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623559" y="4334255"/>
            <a:ext cx="1143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111827"/>
                </a:solidFill>
              </a:defRPr>
            </a:pPr>
            <a:r>
              <a:t>18.25bn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623560" y="1554480"/>
            <a:ext cx="2240280" cy="1554480"/>
          </a:xfrm>
          <a:prstGeom prst="roundRect">
            <a:avLst/>
          </a:prstGeom>
          <a:solidFill>
            <a:srgbClr val="DBEAFE"/>
          </a:solidFill>
          <a:ln>
            <a:solidFill>
              <a:srgbClr val="DBEA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800" b="1">
                <a:solidFill>
                  <a:srgbClr val="111827"/>
                </a:solidFill>
              </a:defRPr>
            </a:pPr>
            <a:r>
              <a:t>Biggest gap</a:t>
            </a:r>
          </a:p>
          <a:p>
            <a:pPr>
              <a:defRPr sz="2800" b="1">
                <a:solidFill>
                  <a:srgbClr val="111827"/>
                </a:solidFill>
              </a:defRPr>
            </a:pPr>
            <a:r>
              <a:t>Visa</a:t>
            </a:r>
          </a:p>
          <a:p>
            <a:pPr>
              <a:defRPr sz="1300">
                <a:solidFill>
                  <a:srgbClr val="374151"/>
                </a:solidFill>
              </a:defRPr>
            </a:pPr>
            <a:r>
              <a:t>much heavier intangible base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183879" y="1554480"/>
            <a:ext cx="2240280" cy="1554480"/>
          </a:xfrm>
          <a:prstGeom prst="roundRect">
            <a:avLst/>
          </a:prstGeom>
          <a:solidFill>
            <a:srgbClr val="E7F0FE"/>
          </a:solidFill>
          <a:ln>
            <a:solidFill>
              <a:srgbClr val="E7F0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800" b="1">
                <a:solidFill>
                  <a:srgbClr val="111827"/>
                </a:solidFill>
              </a:defRPr>
            </a:pPr>
            <a:r>
              <a:t>Read carefully</a:t>
            </a:r>
          </a:p>
          <a:p>
            <a:pPr>
              <a:defRPr sz="2800" b="1">
                <a:solidFill>
                  <a:srgbClr val="111827"/>
                </a:solidFill>
              </a:defRPr>
            </a:pPr>
            <a:r>
              <a:t>Mastercard</a:t>
            </a:r>
          </a:p>
          <a:p>
            <a:pPr>
              <a:defRPr sz="1300">
                <a:solidFill>
                  <a:srgbClr val="374151"/>
                </a:solidFill>
              </a:defRPr>
            </a:pPr>
            <a:r>
              <a:t>less debt in dollars, more risky vs equity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623560" y="3840480"/>
            <a:ext cx="4800600" cy="658368"/>
          </a:xfrm>
          <a:prstGeom prst="roundRect">
            <a:avLst/>
          </a:prstGeom>
          <a:solidFill>
            <a:srgbClr val="DDF3EF"/>
          </a:solidFill>
          <a:ln>
            <a:solidFill>
              <a:srgbClr val="DDF3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600" b="1">
                <a:solidFill>
                  <a:srgbClr val="111827"/>
                </a:solidFill>
              </a:defRPr>
            </a:pPr>
            <a:r>
              <a:t>This slide explains why turnover ratios must be interpreted with the asset mix in mind.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365760"/>
            <a:ext cx="11338560" cy="777240"/>
          </a:xfrm>
          <a:prstGeom prst="roundRect">
            <a:avLst/>
          </a:prstGeom>
          <a:solidFill>
            <a:srgbClr val="1F4E79"/>
          </a:solidFill>
          <a:ln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4. Efficiency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309360"/>
            <a:ext cx="107899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B7280"/>
                </a:solidFill>
              </a:defRPr>
            </a:pPr>
            <a:r>
              <a:t>Sources: Visa 2025 Form 10-K, Mastercard 2025 Form 10-K, official IR pages.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25880"/>
            <a:ext cx="21488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111827"/>
                </a:solidFill>
              </a:defRPr>
            </a:pPr>
            <a:r>
              <a:t>ROA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36776"/>
            <a:ext cx="10058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4B5563"/>
                </a:solidFill>
              </a:defRPr>
            </a:pPr>
            <a:r>
              <a:t>Visa</a:t>
            </a:r>
          </a:p>
        </p:txBody>
      </p:sp>
      <p:sp>
        <p:nvSpPr>
          <p:cNvPr id="6" name="Rectangle 5"/>
          <p:cNvSpPr/>
          <p:nvPr/>
        </p:nvSpPr>
        <p:spPr>
          <a:xfrm>
            <a:off x="1783080" y="1655064"/>
            <a:ext cx="3063240" cy="146304"/>
          </a:xfrm>
          <a:prstGeom prst="rect">
            <a:avLst/>
          </a:prstGeom>
          <a:solidFill>
            <a:srgbClr val="E5E7EB"/>
          </a:solidFill>
          <a:ln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783080" y="1655064"/>
            <a:ext cx="2174900" cy="146304"/>
          </a:xfrm>
          <a:prstGeom prst="rect">
            <a:avLst/>
          </a:prstGeom>
          <a:solidFill>
            <a:srgbClr val="0F766E"/>
          </a:solidFill>
          <a:ln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937759" y="1609344"/>
            <a:ext cx="1143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111827"/>
                </a:solidFill>
              </a:defRPr>
            </a:pPr>
            <a:r>
              <a:t>20.7%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1984248"/>
            <a:ext cx="10058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4B5563"/>
                </a:solidFill>
              </a:defRPr>
            </a:pPr>
            <a:r>
              <a:t>Mastercard</a:t>
            </a:r>
          </a:p>
        </p:txBody>
      </p:sp>
      <p:sp>
        <p:nvSpPr>
          <p:cNvPr id="10" name="Rectangle 9"/>
          <p:cNvSpPr/>
          <p:nvPr/>
        </p:nvSpPr>
        <p:spPr>
          <a:xfrm>
            <a:off x="1783080" y="2002536"/>
            <a:ext cx="3063240" cy="146304"/>
          </a:xfrm>
          <a:prstGeom prst="rect">
            <a:avLst/>
          </a:prstGeom>
          <a:solidFill>
            <a:srgbClr val="E5E7EB"/>
          </a:solidFill>
          <a:ln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783080" y="2002536"/>
            <a:ext cx="3063240" cy="146304"/>
          </a:xfrm>
          <a:prstGeom prst="rect">
            <a:avLst/>
          </a:prstGeom>
          <a:solidFill>
            <a:srgbClr val="B91C1C"/>
          </a:solidFill>
          <a:ln>
            <a:solidFill>
              <a:srgbClr val="B9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937759" y="1956816"/>
            <a:ext cx="1143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111827"/>
                </a:solidFill>
              </a:defRPr>
            </a:pPr>
            <a:r>
              <a:t>29.3%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2331720"/>
            <a:ext cx="21488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111827"/>
                </a:solidFill>
              </a:defRPr>
            </a:pPr>
            <a:r>
              <a:t>Asset turnover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2642615"/>
            <a:ext cx="10058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4B5563"/>
                </a:solidFill>
              </a:defRPr>
            </a:pPr>
            <a:r>
              <a:t>Visa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783080" y="2660903"/>
            <a:ext cx="3063240" cy="146304"/>
          </a:xfrm>
          <a:prstGeom prst="rect">
            <a:avLst/>
          </a:prstGeom>
          <a:solidFill>
            <a:srgbClr val="E5E7EB"/>
          </a:solidFill>
          <a:ln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783080" y="2660903"/>
            <a:ext cx="1960473" cy="146304"/>
          </a:xfrm>
          <a:prstGeom prst="rect">
            <a:avLst/>
          </a:prstGeom>
          <a:solidFill>
            <a:srgbClr val="0F766E"/>
          </a:solidFill>
          <a:ln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37759" y="2615184"/>
            <a:ext cx="1143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111827"/>
                </a:solidFill>
              </a:defRPr>
            </a:pPr>
            <a:r>
              <a:t>0.41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2990087"/>
            <a:ext cx="10058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4B5563"/>
                </a:solidFill>
              </a:defRPr>
            </a:pPr>
            <a:r>
              <a:t>Mastercard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783080" y="3008375"/>
            <a:ext cx="3063240" cy="146304"/>
          </a:xfrm>
          <a:prstGeom prst="rect">
            <a:avLst/>
          </a:prstGeom>
          <a:solidFill>
            <a:srgbClr val="E5E7EB"/>
          </a:solidFill>
          <a:ln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783080" y="3008375"/>
            <a:ext cx="3063240" cy="146304"/>
          </a:xfrm>
          <a:prstGeom prst="rect">
            <a:avLst/>
          </a:prstGeom>
          <a:solidFill>
            <a:srgbClr val="B91C1C"/>
          </a:solidFill>
          <a:ln>
            <a:solidFill>
              <a:srgbClr val="B9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937759" y="2962656"/>
            <a:ext cx="1143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111827"/>
                </a:solidFill>
              </a:defRPr>
            </a:pPr>
            <a:r>
              <a:t>0.64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3337560"/>
            <a:ext cx="21488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111827"/>
                </a:solidFill>
              </a:defRPr>
            </a:pPr>
            <a:r>
              <a:t>Fixed asset turnover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3648456"/>
            <a:ext cx="10058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4B5563"/>
                </a:solidFill>
              </a:defRPr>
            </a:pPr>
            <a:r>
              <a:t>Visa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783080" y="3666744"/>
            <a:ext cx="3063240" cy="146304"/>
          </a:xfrm>
          <a:prstGeom prst="rect">
            <a:avLst/>
          </a:prstGeom>
          <a:solidFill>
            <a:srgbClr val="E5E7EB"/>
          </a:solidFill>
          <a:ln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783080" y="3666744"/>
            <a:ext cx="2052370" cy="146304"/>
          </a:xfrm>
          <a:prstGeom prst="rect">
            <a:avLst/>
          </a:prstGeom>
          <a:solidFill>
            <a:srgbClr val="0F766E"/>
          </a:solidFill>
          <a:ln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937759" y="3621024"/>
            <a:ext cx="1143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111827"/>
                </a:solidFill>
              </a:defRPr>
            </a:pPr>
            <a:r>
              <a:t>9.93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1520" y="3995928"/>
            <a:ext cx="10058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4B5563"/>
                </a:solidFill>
              </a:defRPr>
            </a:pPr>
            <a:r>
              <a:t>Mastercard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783080" y="4014215"/>
            <a:ext cx="3063240" cy="146304"/>
          </a:xfrm>
          <a:prstGeom prst="rect">
            <a:avLst/>
          </a:prstGeom>
          <a:solidFill>
            <a:srgbClr val="E5E7EB"/>
          </a:solidFill>
          <a:ln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783080" y="4014215"/>
            <a:ext cx="3063240" cy="146304"/>
          </a:xfrm>
          <a:prstGeom prst="rect">
            <a:avLst/>
          </a:prstGeom>
          <a:solidFill>
            <a:srgbClr val="B91C1C"/>
          </a:solidFill>
          <a:ln>
            <a:solidFill>
              <a:srgbClr val="B9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937759" y="3968496"/>
            <a:ext cx="1143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111827"/>
                </a:solidFill>
              </a:defRPr>
            </a:pPr>
            <a:r>
              <a:t>14.77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31520" y="4343400"/>
            <a:ext cx="21488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111827"/>
                </a:solidFill>
              </a:defRPr>
            </a:pPr>
            <a:r>
              <a:t>Receivables turnover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1520" y="4654296"/>
            <a:ext cx="10058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4B5563"/>
                </a:solidFill>
              </a:defRPr>
            </a:pPr>
            <a:r>
              <a:t>Visa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783080" y="4672583"/>
            <a:ext cx="3063240" cy="146304"/>
          </a:xfrm>
          <a:prstGeom prst="rect">
            <a:avLst/>
          </a:prstGeom>
          <a:solidFill>
            <a:srgbClr val="E5E7EB"/>
          </a:solidFill>
          <a:ln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1783080" y="4672583"/>
            <a:ext cx="3063240" cy="146304"/>
          </a:xfrm>
          <a:prstGeom prst="rect">
            <a:avLst/>
          </a:prstGeom>
          <a:solidFill>
            <a:srgbClr val="0F766E"/>
          </a:solidFill>
          <a:ln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937759" y="4626864"/>
            <a:ext cx="1143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111827"/>
                </a:solidFill>
              </a:defRPr>
            </a:pPr>
            <a:r>
              <a:t>14.07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31520" y="5001768"/>
            <a:ext cx="10058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4B5563"/>
                </a:solidFill>
              </a:defRPr>
            </a:pPr>
            <a:r>
              <a:t>Mastercard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783080" y="5020055"/>
            <a:ext cx="3063240" cy="146304"/>
          </a:xfrm>
          <a:prstGeom prst="rect">
            <a:avLst/>
          </a:prstGeom>
          <a:solidFill>
            <a:srgbClr val="E5E7EB"/>
          </a:solidFill>
          <a:ln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783080" y="5020055"/>
            <a:ext cx="1715414" cy="146304"/>
          </a:xfrm>
          <a:prstGeom prst="rect">
            <a:avLst/>
          </a:prstGeom>
          <a:solidFill>
            <a:srgbClr val="B91C1C"/>
          </a:solidFill>
          <a:ln>
            <a:solidFill>
              <a:srgbClr val="B9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937759" y="4974336"/>
            <a:ext cx="1143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111827"/>
                </a:solidFill>
              </a:defRPr>
            </a:pPr>
            <a:r>
              <a:t>7.82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852160" y="1417320"/>
            <a:ext cx="2148840" cy="1508760"/>
          </a:xfrm>
          <a:prstGeom prst="roundRect">
            <a:avLst/>
          </a:prstGeom>
          <a:solidFill>
            <a:srgbClr val="FEE2E2"/>
          </a:solidFill>
          <a:ln>
            <a:solidFill>
              <a:srgbClr val="FEE2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800" b="1">
                <a:solidFill>
                  <a:srgbClr val="111827"/>
                </a:solidFill>
              </a:defRPr>
            </a:pPr>
            <a:r>
              <a:t>Efficiency</a:t>
            </a:r>
          </a:p>
          <a:p>
            <a:pPr>
              <a:defRPr sz="2800" b="1">
                <a:solidFill>
                  <a:srgbClr val="111827"/>
                </a:solidFill>
              </a:defRPr>
            </a:pPr>
            <a:r>
              <a:t>Mastercard</a:t>
            </a:r>
          </a:p>
          <a:p>
            <a:pPr>
              <a:defRPr sz="1300">
                <a:solidFill>
                  <a:srgbClr val="374151"/>
                </a:solidFill>
              </a:defRPr>
            </a:pPr>
            <a:r>
              <a:t>wins 3 of 4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8229600" y="1417320"/>
            <a:ext cx="2148840" cy="1508760"/>
          </a:xfrm>
          <a:prstGeom prst="roundRect">
            <a:avLst/>
          </a:prstGeom>
          <a:solidFill>
            <a:srgbClr val="DDF3EF"/>
          </a:solidFill>
          <a:ln>
            <a:solidFill>
              <a:srgbClr val="DDF3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800" b="1">
                <a:solidFill>
                  <a:srgbClr val="111827"/>
                </a:solidFill>
              </a:defRPr>
            </a:pPr>
            <a:r>
              <a:t>Collection</a:t>
            </a:r>
          </a:p>
          <a:p>
            <a:pPr>
              <a:defRPr sz="2800" b="1">
                <a:solidFill>
                  <a:srgbClr val="111827"/>
                </a:solidFill>
              </a:defRPr>
            </a:pPr>
            <a:r>
              <a:t>Visa</a:t>
            </a:r>
          </a:p>
          <a:p>
            <a:pPr>
              <a:defRPr sz="1300">
                <a:solidFill>
                  <a:srgbClr val="374151"/>
                </a:solidFill>
              </a:defRPr>
            </a:pPr>
            <a:r>
              <a:t>faster receivables turn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5577840" y="3429000"/>
            <a:ext cx="5166360" cy="658368"/>
          </a:xfrm>
          <a:prstGeom prst="roundRect">
            <a:avLst/>
          </a:prstGeom>
          <a:solidFill>
            <a:srgbClr val="DCFCE7"/>
          </a:solidFill>
          <a:ln>
            <a:solidFill>
              <a:srgbClr val="DCFC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500" b="1">
                <a:solidFill>
                  <a:srgbClr val="111827"/>
                </a:solidFill>
              </a:defRPr>
            </a:pPr>
            <a:r>
              <a:t>Inventory turnover is not meaningful here because both companies are service payment networks.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365760"/>
            <a:ext cx="11338560" cy="777240"/>
          </a:xfrm>
          <a:prstGeom prst="roundRect">
            <a:avLst/>
          </a:prstGeom>
          <a:solidFill>
            <a:srgbClr val="0F766E"/>
          </a:solidFill>
          <a:ln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5. Market View And Final Judgment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309360"/>
            <a:ext cx="107899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B7280"/>
                </a:solidFill>
              </a:defRPr>
            </a:pPr>
            <a:r>
              <a:t>Sources: Visa 2025 Form 10-K, Mastercard 2025 Form 10-K, official IR pages.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34440"/>
            <a:ext cx="21488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111827"/>
                </a:solidFill>
              </a:defRPr>
            </a:pPr>
            <a:r>
              <a:t>P/E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545336"/>
            <a:ext cx="10058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4B5563"/>
                </a:solidFill>
              </a:defRPr>
            </a:pPr>
            <a:r>
              <a:t>Visa</a:t>
            </a:r>
          </a:p>
        </p:txBody>
      </p:sp>
      <p:sp>
        <p:nvSpPr>
          <p:cNvPr id="6" name="Rectangle 5"/>
          <p:cNvSpPr/>
          <p:nvPr/>
        </p:nvSpPr>
        <p:spPr>
          <a:xfrm>
            <a:off x="1783080" y="1563624"/>
            <a:ext cx="3200400" cy="146304"/>
          </a:xfrm>
          <a:prstGeom prst="rect">
            <a:avLst/>
          </a:prstGeom>
          <a:solidFill>
            <a:srgbClr val="E5E7EB"/>
          </a:solidFill>
          <a:ln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783080" y="1563624"/>
            <a:ext cx="3200400" cy="146304"/>
          </a:xfrm>
          <a:prstGeom prst="rect">
            <a:avLst/>
          </a:prstGeom>
          <a:solidFill>
            <a:srgbClr val="0F766E"/>
          </a:solidFill>
          <a:ln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74920" y="1517904"/>
            <a:ext cx="1143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111827"/>
                </a:solidFill>
              </a:defRPr>
            </a:pPr>
            <a:r>
              <a:t>30.28x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1892808"/>
            <a:ext cx="10058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4B5563"/>
                </a:solidFill>
              </a:defRPr>
            </a:pPr>
            <a:r>
              <a:t>Mastercard</a:t>
            </a:r>
          </a:p>
        </p:txBody>
      </p:sp>
      <p:sp>
        <p:nvSpPr>
          <p:cNvPr id="10" name="Rectangle 9"/>
          <p:cNvSpPr/>
          <p:nvPr/>
        </p:nvSpPr>
        <p:spPr>
          <a:xfrm>
            <a:off x="1783080" y="1911096"/>
            <a:ext cx="3200400" cy="146304"/>
          </a:xfrm>
          <a:prstGeom prst="rect">
            <a:avLst/>
          </a:prstGeom>
          <a:solidFill>
            <a:srgbClr val="E5E7EB"/>
          </a:solidFill>
          <a:ln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783080" y="1911096"/>
            <a:ext cx="3200400" cy="146304"/>
          </a:xfrm>
          <a:prstGeom prst="rect">
            <a:avLst/>
          </a:prstGeom>
          <a:solidFill>
            <a:srgbClr val="B91C1C"/>
          </a:solidFill>
          <a:ln>
            <a:solidFill>
              <a:srgbClr val="B9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74920" y="1865376"/>
            <a:ext cx="1143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111827"/>
                </a:solidFill>
              </a:defRPr>
            </a:pPr>
            <a:r>
              <a:t>30.41x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2240280"/>
            <a:ext cx="21488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111827"/>
                </a:solidFill>
              </a:defRPr>
            </a:pPr>
            <a:r>
              <a:t>Price / book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2551176"/>
            <a:ext cx="10058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4B5563"/>
                </a:solidFill>
              </a:defRPr>
            </a:pPr>
            <a:r>
              <a:t>Visa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783080" y="2569464"/>
            <a:ext cx="3200400" cy="146304"/>
          </a:xfrm>
          <a:prstGeom prst="rect">
            <a:avLst/>
          </a:prstGeom>
          <a:solidFill>
            <a:srgbClr val="E5E7EB"/>
          </a:solidFill>
          <a:ln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783080" y="2569464"/>
            <a:ext cx="768096" cy="146304"/>
          </a:xfrm>
          <a:prstGeom prst="rect">
            <a:avLst/>
          </a:prstGeom>
          <a:solidFill>
            <a:srgbClr val="0F766E"/>
          </a:solidFill>
          <a:ln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74920" y="2523744"/>
            <a:ext cx="1143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111827"/>
                </a:solidFill>
              </a:defRPr>
            </a:pPr>
            <a:r>
              <a:t>13.75x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2898648"/>
            <a:ext cx="10058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4B5563"/>
                </a:solidFill>
              </a:defRPr>
            </a:pPr>
            <a:r>
              <a:t>Mastercard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783080" y="2916936"/>
            <a:ext cx="3200400" cy="146304"/>
          </a:xfrm>
          <a:prstGeom prst="rect">
            <a:avLst/>
          </a:prstGeom>
          <a:solidFill>
            <a:srgbClr val="E5E7EB"/>
          </a:solidFill>
          <a:ln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783080" y="2916936"/>
            <a:ext cx="3200400" cy="146304"/>
          </a:xfrm>
          <a:prstGeom prst="rect">
            <a:avLst/>
          </a:prstGeom>
          <a:solidFill>
            <a:srgbClr val="B91C1C"/>
          </a:solidFill>
          <a:ln>
            <a:solidFill>
              <a:srgbClr val="B9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74920" y="2871216"/>
            <a:ext cx="1143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111827"/>
                </a:solidFill>
              </a:defRPr>
            </a:pPr>
            <a:r>
              <a:t>57.48x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3246120"/>
            <a:ext cx="21488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111827"/>
                </a:solidFill>
              </a:defRPr>
            </a:pPr>
            <a:r>
              <a:t>Dividend payout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3557015"/>
            <a:ext cx="10058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4B5563"/>
                </a:solidFill>
              </a:defRPr>
            </a:pPr>
            <a:r>
              <a:t>Visa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783080" y="3575303"/>
            <a:ext cx="3200400" cy="146304"/>
          </a:xfrm>
          <a:prstGeom prst="rect">
            <a:avLst/>
          </a:prstGeom>
          <a:solidFill>
            <a:srgbClr val="E5E7EB"/>
          </a:solidFill>
          <a:ln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783080" y="3575303"/>
            <a:ext cx="3200400" cy="146304"/>
          </a:xfrm>
          <a:prstGeom prst="rect">
            <a:avLst/>
          </a:prstGeom>
          <a:solidFill>
            <a:srgbClr val="0F766E"/>
          </a:solidFill>
          <a:ln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74920" y="3529584"/>
            <a:ext cx="1143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111827"/>
                </a:solidFill>
              </a:defRPr>
            </a:pPr>
            <a:r>
              <a:t>23.1%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1520" y="3904487"/>
            <a:ext cx="10058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4B5563"/>
                </a:solidFill>
              </a:defRPr>
            </a:pPr>
            <a:r>
              <a:t>Mastercard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783080" y="3922775"/>
            <a:ext cx="3200400" cy="146304"/>
          </a:xfrm>
          <a:prstGeom prst="rect">
            <a:avLst/>
          </a:prstGeom>
          <a:solidFill>
            <a:srgbClr val="E5E7EB"/>
          </a:solidFill>
          <a:ln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783080" y="3922775"/>
            <a:ext cx="2560320" cy="146304"/>
          </a:xfrm>
          <a:prstGeom prst="rect">
            <a:avLst/>
          </a:prstGeom>
          <a:solidFill>
            <a:srgbClr val="B91C1C"/>
          </a:solidFill>
          <a:ln>
            <a:solidFill>
              <a:srgbClr val="B9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074920" y="3877055"/>
            <a:ext cx="1143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111827"/>
                </a:solidFill>
              </a:defRPr>
            </a:pPr>
            <a:r>
              <a:t>18.4%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577840" y="1143000"/>
            <a:ext cx="2331720" cy="1645920"/>
          </a:xfrm>
          <a:prstGeom prst="roundRect">
            <a:avLst/>
          </a:prstGeom>
          <a:solidFill>
            <a:srgbClr val="DDF3EF"/>
          </a:solidFill>
          <a:ln>
            <a:solidFill>
              <a:srgbClr val="DDF3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800" b="1">
                <a:solidFill>
                  <a:srgbClr val="111827"/>
                </a:solidFill>
              </a:defRPr>
            </a:pPr>
            <a:r>
              <a:t>Overall winner</a:t>
            </a:r>
          </a:p>
          <a:p>
            <a:pPr>
              <a:defRPr sz="2800" b="1">
                <a:solidFill>
                  <a:srgbClr val="111827"/>
                </a:solidFill>
              </a:defRPr>
            </a:pPr>
            <a:r>
              <a:t>Visa</a:t>
            </a:r>
          </a:p>
          <a:p>
            <a:pPr>
              <a:defRPr sz="1300">
                <a:solidFill>
                  <a:srgbClr val="374151"/>
                </a:solidFill>
              </a:defRPr>
            </a:pPr>
            <a:r>
              <a:t>better financial quality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183879" y="1143000"/>
            <a:ext cx="2331720" cy="1645920"/>
          </a:xfrm>
          <a:prstGeom prst="roundRect">
            <a:avLst/>
          </a:prstGeom>
          <a:solidFill>
            <a:srgbClr val="FEE2E2"/>
          </a:solidFill>
          <a:ln>
            <a:solidFill>
              <a:srgbClr val="FEE2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800" b="1">
                <a:solidFill>
                  <a:srgbClr val="111827"/>
                </a:solidFill>
              </a:defRPr>
            </a:pPr>
            <a:r>
              <a:t>Operational edge</a:t>
            </a:r>
          </a:p>
          <a:p>
            <a:pPr>
              <a:defRPr sz="2800" b="1">
                <a:solidFill>
                  <a:srgbClr val="111827"/>
                </a:solidFill>
              </a:defRPr>
            </a:pPr>
            <a:r>
              <a:t>Mastercard</a:t>
            </a:r>
          </a:p>
          <a:p>
            <a:pPr>
              <a:defRPr sz="1300">
                <a:solidFill>
                  <a:srgbClr val="374151"/>
                </a:solidFill>
              </a:defRPr>
            </a:pPr>
            <a:r>
              <a:t>better asset efficiency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577840" y="3246120"/>
            <a:ext cx="2194560" cy="658368"/>
          </a:xfrm>
          <a:prstGeom prst="roundRect">
            <a:avLst/>
          </a:prstGeom>
          <a:solidFill>
            <a:srgbClr val="E6F4F1"/>
          </a:solidFill>
          <a:ln>
            <a:solidFill>
              <a:srgbClr val="E6F4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100" b="1">
                <a:solidFill>
                  <a:srgbClr val="111827"/>
                </a:solidFill>
              </a:defRPr>
            </a:pPr>
            <a:r>
              <a:t>Visa wins on</a:t>
            </a:r>
          </a:p>
          <a:p>
            <a:pPr>
              <a:defRPr sz="1800" b="1">
                <a:solidFill>
                  <a:srgbClr val="111827"/>
                </a:solidFill>
              </a:defRPr>
            </a:pPr>
            <a:r>
              <a:t>margin, leverage, payout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183879" y="3246120"/>
            <a:ext cx="2194560" cy="658368"/>
          </a:xfrm>
          <a:prstGeom prst="roundRect">
            <a:avLst/>
          </a:prstGeom>
          <a:solidFill>
            <a:srgbClr val="FEEBEB"/>
          </a:solidFill>
          <a:ln>
            <a:solidFill>
              <a:srgbClr val="FE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100" b="1">
                <a:solidFill>
                  <a:srgbClr val="111827"/>
                </a:solidFill>
              </a:defRPr>
            </a:pPr>
            <a:r>
              <a:t>Mastercard wins on</a:t>
            </a:r>
          </a:p>
          <a:p>
            <a:pPr>
              <a:defRPr sz="1800" b="1">
                <a:solidFill>
                  <a:srgbClr val="111827"/>
                </a:solidFill>
              </a:defRPr>
            </a:pPr>
            <a:r>
              <a:t>ROA and turnover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005840" y="5257800"/>
            <a:ext cx="9966960" cy="640080"/>
          </a:xfrm>
          <a:prstGeom prst="round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800" b="1">
                <a:solidFill>
                  <a:srgbClr val="FFFFFF"/>
                </a:solidFill>
              </a:defRPr>
            </a:pPr>
            <a:r>
              <a:t>Final call: Mastercard is more efficient operationally, but Visa performs better financially overall.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